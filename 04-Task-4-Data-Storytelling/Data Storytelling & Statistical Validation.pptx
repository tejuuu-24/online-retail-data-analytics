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1" r:id="rId6"/>
    <p:sldId id="320" r:id="rId7"/>
    <p:sldId id="319" r:id="rId8"/>
    <p:sldId id="318" r:id="rId9"/>
    <p:sldId id="323" r:id="rId10"/>
    <p:sldId id="327" r:id="rId11"/>
    <p:sldId id="324" r:id="rId12"/>
    <p:sldId id="325" r:id="rId13"/>
    <p:sldId id="326" r:id="rId14"/>
    <p:sldId id="328" r:id="rId15"/>
    <p:sldId id="329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DB16E-1049-4162-A876-23B4A6F398F1}" v="15" dt="2026-02-27T14:50:29.297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95388" autoAdjust="0"/>
  </p:normalViewPr>
  <p:slideViewPr>
    <p:cSldViewPr snapToGrid="0">
      <p:cViewPr varScale="1">
        <p:scale>
          <a:sx n="55" d="100"/>
          <a:sy n="55" d="100"/>
        </p:scale>
        <p:origin x="1204" y="3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D7554-D10C-4E29-B8E6-BB7111FA61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15" y="1131004"/>
            <a:ext cx="6014663" cy="1763932"/>
          </a:xfrm>
        </p:spPr>
        <p:txBody>
          <a:bodyPr/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8EAFA-9877-1CB9-D269-07B81F219A1A}"/>
              </a:ext>
            </a:extLst>
          </p:cNvPr>
          <p:cNvSpPr txBox="1"/>
          <p:nvPr/>
        </p:nvSpPr>
        <p:spPr>
          <a:xfrm>
            <a:off x="2579914" y="2188029"/>
            <a:ext cx="82944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Performance Insights: Revenue &amp; Customer Behavior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DAFA7-DC47-3E7C-1DD3-16D5A3C01065}"/>
              </a:ext>
            </a:extLst>
          </p:cNvPr>
          <p:cNvSpPr txBox="1"/>
          <p:nvPr/>
        </p:nvSpPr>
        <p:spPr>
          <a:xfrm>
            <a:off x="3358587" y="3535272"/>
            <a:ext cx="5474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Retail | Power BI | 2010–2011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29" y="381965"/>
            <a:ext cx="5000318" cy="753908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  <a:endParaRPr lang="en-US" sz="4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E3D81-154A-8F5A-4397-491885D6EFC0}"/>
              </a:ext>
            </a:extLst>
          </p:cNvPr>
          <p:cNvSpPr txBox="1"/>
          <p:nvPr/>
        </p:nvSpPr>
        <p:spPr>
          <a:xfrm>
            <a:off x="3183038" y="1597306"/>
            <a:ext cx="7755038" cy="4317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17FC2A-650F-2996-36A4-D478071EF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633" y="1777884"/>
            <a:ext cx="9132427" cy="2600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overall retail performance using transaction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revenue drivers (time, products, customers, countries)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data-driven business decisions using dashboards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8" y="312516"/>
            <a:ext cx="9923770" cy="727745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ZA" sz="4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1F31BC-707D-2B32-1BF8-459CD194302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967596" y="1318022"/>
            <a:ext cx="8194976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Dataset: Online Retail (Dec 2010 – Dec 2011)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Cleaned transactional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fields: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InvoiceDate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Quantity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Revenue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245133"/>
            <a:ext cx="6714486" cy="769363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KPIs</a:t>
            </a:r>
            <a:endParaRPr lang="en-ZA" sz="4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479DB1-D6CC-CA6D-0105-BCB5A719F9EA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2213317" y="1572679"/>
            <a:ext cx="4811510" cy="34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Revenue: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10.62M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Transactions: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21K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Average Order Value: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512.40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4,339</a:t>
            </a: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6734-3470-CDF9-F01E-49B66943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262487"/>
            <a:ext cx="7709909" cy="827237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44DB9-B5CB-EED2-4661-EF93325EDB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95510" y="1456931"/>
            <a:ext cx="7230860" cy="41194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shows steady growth through 2011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revenue observed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drop in December due to partial month data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20085-4E88-BE9E-597B-F94463BE5C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0CB28-AA89-C107-1C64-E4A63D49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564" y="3525125"/>
            <a:ext cx="4937327" cy="274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0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506B-121B-2B7D-D8A9-5150D4B0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262487"/>
            <a:ext cx="10013271" cy="86196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Segmentation: New vs Returning Customers</a:t>
            </a:r>
            <a:endParaRPr lang="en-IN" sz="4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42E57-8506-29F2-B716-CB38ED743B0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BDAC62-9BD7-80B4-2147-A4A9587A8B7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30233" y="1658091"/>
            <a:ext cx="10575945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segmented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purchase history.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customers form the majority (≈60%),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indicating strong customer acquisition.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Returning customers account for ≈40%,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showing moderate retention.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focuses on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volume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revenue contribution.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63E43C-F56F-2D6E-7764-1D40BE29D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79" y="4248499"/>
            <a:ext cx="3553689" cy="21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39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FF97-5F0A-E5AB-3489-42BFDDA3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598" y="227771"/>
            <a:ext cx="7999276" cy="804087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Revenue-Generating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20A8D-2057-0AA6-2101-162D0CFDEF5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78256" y="1031858"/>
            <a:ext cx="8552264" cy="270847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products contribute most revenue</a:t>
            </a:r>
          </a:p>
          <a:p>
            <a:pPr>
              <a:lnSpc>
                <a:spcPct val="150000"/>
              </a:lnSpc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Top 5 products dominate sales</a:t>
            </a:r>
          </a:p>
          <a:p>
            <a:pPr>
              <a:lnSpc>
                <a:spcPct val="150000"/>
              </a:lnSpc>
            </a:pP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b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promotions and stock planning on high-revenue products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DEA77-30E6-86C0-A71B-000409F278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2FF1C-2D90-E028-E196-1F4C0483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86" y="4040413"/>
            <a:ext cx="4418776" cy="2435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F9EC3-20D7-FDAC-B41B-F4A1E4D49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79" y="4040413"/>
            <a:ext cx="4741521" cy="243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9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C9A8-8C1A-6250-D921-ACEF2CD0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000" y="133463"/>
            <a:ext cx="8346517" cy="8156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Geographic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AA63-AFF0-80DC-5A0D-161C8C64840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65786" y="1120414"/>
            <a:ext cx="9082809" cy="27223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 Kingdom contributes the highest revenue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countries contribute significantly smaller shares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market is UK → opportunity to expand internationally.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09052-DF18-526E-602B-466A51EFD9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7578E-07BC-05A8-711E-AD27F503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425" y="4014084"/>
            <a:ext cx="3849869" cy="25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7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1793-8864-90BE-3C44-9804F5EA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322" y="262487"/>
            <a:ext cx="7790932" cy="468421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BAAAF-BDAA-2CF1-C709-887E9B9616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70072" y="1226976"/>
            <a:ext cx="8191558" cy="47166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 (Null Hypothesis):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significant difference between new and returning customers in terms of average order value.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 (Alternative Hypothesis):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significant difference between new and returning customers in terms of average order value.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5D97B-A502-F9B5-E1CF-167963700F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6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53DA-9DA9-B692-5CEC-622F6C90C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50" y="149819"/>
            <a:ext cx="8034000" cy="479996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&amp; Business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1A87-CA41-0809-7233-42D957F23AA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76533" y="881805"/>
            <a:ext cx="10251852" cy="411946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used: Average Order Value</a:t>
            </a: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compared: New vs Returning customers</a:t>
            </a: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type: Independent comparison (conceptual t-test)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difference in purchasing behavior is observed between customer groups.</a:t>
            </a: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customers tend to place repeat purchases, while new customers dominate in volume.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C51BC-BCE2-BE35-519D-2BAF9650DB3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31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4E0C-91D0-D2AF-A06F-7FFAF584DE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262487"/>
            <a:ext cx="8552264" cy="411946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 :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share of new customers shows strong acquisition.</a:t>
            </a:r>
          </a:p>
          <a:p>
            <a:pPr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returning customer count suggests retention strategies can improve long-term revenue.</a:t>
            </a:r>
          </a:p>
          <a:p>
            <a:pPr>
              <a:lnSpc>
                <a:spcPct val="170000"/>
              </a:lnSpc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areas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</a:t>
            </a:r>
          </a:p>
          <a:p>
            <a:pPr lvl="1"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</a:t>
            </a:r>
          </a:p>
          <a:p>
            <a:pPr lvl="1">
              <a:lnSpc>
                <a:spcPct val="17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purchase incentives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90EC3-DEAA-0EAD-401B-41751E7131B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81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542" y="1548114"/>
            <a:ext cx="9562589" cy="2367023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409</Words>
  <Application>Microsoft Office PowerPoint</Application>
  <PresentationFormat>Widescreen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Tisa Offc Serif Pro</vt:lpstr>
      <vt:lpstr>Univers Light</vt:lpstr>
      <vt:lpstr>Custom</vt:lpstr>
      <vt:lpstr>TITLE: </vt:lpstr>
      <vt:lpstr>Agenda</vt:lpstr>
      <vt:lpstr>Business Objective</vt:lpstr>
      <vt:lpstr>Dataset Overview</vt:lpstr>
      <vt:lpstr>Key Business KPIs</vt:lpstr>
      <vt:lpstr>Monthly Revenue Trend</vt:lpstr>
      <vt:lpstr>Customer Segmentation: New vs Returning Customers</vt:lpstr>
      <vt:lpstr>Top Revenue-Generating Products</vt:lpstr>
      <vt:lpstr>Geographic Performance</vt:lpstr>
      <vt:lpstr>Hypothesis Formulation</vt:lpstr>
      <vt:lpstr>Hypothesis Testing &amp; Business Insight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shanker sanam</cp:lastModifiedBy>
  <cp:revision>6</cp:revision>
  <dcterms:created xsi:type="dcterms:W3CDTF">2026-02-27T14:49:59Z</dcterms:created>
  <dcterms:modified xsi:type="dcterms:W3CDTF">2026-02-27T15:56:34Z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